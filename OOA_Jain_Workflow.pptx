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  <a:latin typeface="Calibri"/>
              </a:rPr>
              <a:t>OOA JAIN University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C5A572"/>
                </a:solidFill>
                <a:latin typeface="Calibri"/>
              </a:rPr>
              <a:t>Digital Platform — Workflow &amp; Feature Guide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017520"/>
            <a:ext cx="6702552" cy="4572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1F5F9"/>
                </a:solidFill>
                <a:latin typeface="Calibri"/>
              </a:rPr>
              <a:t>Office of Academics  |  Jain (Deemed-to-be University)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64748B"/>
                </a:solidFill>
                <a:latin typeface="Calibri"/>
              </a:rPr>
              <a:t>Version 1.0  | 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5A572"/>
                </a:solidFill>
                <a:latin typeface="Calibri"/>
              </a:rPr>
              <a:t>github.com/ooa-jain/ooa-microsite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What this presentation covers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01  Platform Overview &amp; Architecture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02  Landing Page — Login &amp; Registration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03  Home Dashboard — All Panels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04  Academic Calendar (2800+ Events)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05  UGC &amp; University Notices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06  Event Reminders &amp; Email Alerts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64592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07  User Profile Management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08  Document Repositories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09  15-Minute Course &amp; Guided Tour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10  Admin Dashboard &amp; Controls</a:t>
            </a:r>
          </a:p>
          <a:p>
            <a:pPr algn="l"/>
            <a:r>
              <a:rPr sz="1300">
                <a:solidFill>
                  <a:srgbClr val="FFFFFF"/>
                </a:solidFill>
                <a:latin typeface="Calibri"/>
              </a:rPr>
              <a:t>  ▸  11  Complete Workflow Summary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Platform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Technology stack powering the OOA Microsite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28800"/>
            <a:ext cx="256032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90195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212848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Python 3.13 + Flask
Jinja2 Templates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828800"/>
            <a:ext cx="256032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39" y="190195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39" y="2212848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MongoDB Atlas
27 Collections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828800"/>
            <a:ext cx="256032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52159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63640" y="190195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Auth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212848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Flask Sessions
+ Firebase OAuth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03920" y="1828800"/>
            <a:ext cx="320040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0" y="1920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📧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06840" y="190195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Email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06840" y="2212848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SMTP HTML Emails
Auto Reminders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66160"/>
            <a:ext cx="256032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36393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3950208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HTML + CSS + JS
No framework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017520" y="3566160"/>
            <a:ext cx="256032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1089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🚀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20439" y="36393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Deploy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20439" y="3950208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Render.com
Port 5001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3566160"/>
            <a:ext cx="256032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52159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639312"/>
            <a:ext cx="1965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Roles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3950208"/>
            <a:ext cx="1965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Admin / User
Leader / Core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03920" y="3566160"/>
            <a:ext cx="320040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3657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06840" y="3639312"/>
            <a:ext cx="2606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Storage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3950208"/>
            <a:ext cx="26060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Local uploads/
MongoDB GridFS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Landing Page  ( /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Public entry point with login, Google SSO, and registration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5A572"/>
                </a:solidFill>
                <a:latin typeface="Calibri"/>
              </a:rPr>
              <a:t>What users see first: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2057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Video Hero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860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Full-screen dark video with 'Office of Academics' title, 28+ departments stat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53288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306324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3063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3063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Login Card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32918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Email + Password form, Google Sign-In (Jain domain only), Forgot Password link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3872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406908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069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4069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Register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42976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New users register → Admin approves → Access granted to dashboard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4456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507492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5074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Redirect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530352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On success: redirected to /home with full dashboard access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55040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Home Dashboard  ( /home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Central hub — loaded asynchronously from /api/home_data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65760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Events Ticker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Today's events scroll slowly across the top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645920"/>
            <a:ext cx="365760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171907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UGC Notices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17720" y="202996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Latest UGC circulars &amp; guidelines panel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79" y="1645920"/>
            <a:ext cx="393192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19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🏛️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171907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OOA Notices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8200" y="2029968"/>
            <a:ext cx="3337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Office of Academics announcements panel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108960"/>
            <a:ext cx="365760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1821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Calendar Slide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49300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Interactive academic events with dept filter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0" y="3108960"/>
            <a:ext cx="365760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624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🖼️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318211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Campus Gallery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349300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Photo moments from campus events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55279" y="3108960"/>
            <a:ext cx="393192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19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58200" y="318211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Mini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58200" y="3493008"/>
            <a:ext cx="3337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15-min guided course on JAIN &amp; platform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572000"/>
            <a:ext cx="365760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🎯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46451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Events Grid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95604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Today + Upcoming with Set Reminder buttons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0" y="4572000"/>
            <a:ext cx="365760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0624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🗺️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17720" y="4645152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Guided Tour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17720" y="4956048"/>
            <a:ext cx="306324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Driver.js overlay tour of all sections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55279" y="4572000"/>
            <a:ext cx="3931920" cy="128016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046719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58200" y="4645152"/>
            <a:ext cx="3337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User Menu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458200" y="4956048"/>
            <a:ext cx="3337560" cy="822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Profile, settings, repo links, logout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Academic Calendar  ( /calendar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2800+ events for 2026-27 — fully interactive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3385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Month View  —  Click any day to see events starting or ongoing that day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Timeline View  —  Browse events chronologically month by month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Today View  —  See only events active on today's date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Upcoming View  —  Next 60 days across all departments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Sidebar Navigation  —  Faculty → Department → Sub-department tree with event counts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Campus Filter  —  Toggle between Bengaluru and Kochi campus events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Event Drawer  —  Click any event for full details: venue, coordinator, dates, Add to Google Calendar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Search  —  Real-time keyword search across all 2800+ events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Deep Link  —  /calendar?eventName=X opens specific event drawer directly (from ticker/notices)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UGC &amp; University Notices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4 UGC + 4 OOA notices — real external PDF links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5A572"/>
                </a:solidFill>
                <a:latin typeface="Calibri"/>
              </a:rPr>
              <a:t>UGC Notices  (category = 'UGC')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UGC Guidelines: DIAC, DPAC and BOS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National Credit Framework (NCrF) – 2023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Reservation in Temporary Appointments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UGC Handbook: Adoption of NEP 2020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645920"/>
            <a:ext cx="5669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5A572"/>
                </a:solidFill>
                <a:latin typeface="Calibri"/>
              </a:rPr>
              <a:t>OOA / University Notices  (category = 'University Notice')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0" y="2103120"/>
            <a:ext cx="56692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JAIN Academic Calendar 2026-27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Semester-End Examination Schedule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Academic Bank of Credits (ABC) Registration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CBCS Implementation – Updated Structure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480560"/>
            <a:ext cx="11247120" cy="4572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1F5F9"/>
                </a:solidFill>
                <a:latin typeface="Calibri"/>
              </a:rPr>
              <a:t>How it works: Click any notice card → Modal opens with description + external PDF link → View or download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1206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Calibri"/>
              </a:rPr>
              <a:t>Admin adds via /edit_ugc — select category 'UGC' or 'University Notice' when uploading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Event Reminders &amp; Email Alerts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Set personalised reminders for any academic event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Click Event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Click any event in today/upcoming section on Home dashboard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496312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49631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49631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Reminder Modal Opens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724912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See event name, date, time, venue in a beautiful modal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71800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346704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34670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34670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Set Date &amp; 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575304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Pick reminder date, time, and optional personal note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822191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4197096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19709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19709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Confirmation Email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425696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Instant HTML email sent confirming your reminder is set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672583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5047488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50474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504748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Automated Reminder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527608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At scheduled time, reminder email sent to your Jain email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522976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89788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58978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8978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Manage in Profile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61264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View all reminders in My Profile → Cancel any time with one click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637336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User Profile  ( /profile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Personal info, security, reminders and documents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566160" cy="228600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🖼️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Profile Card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Name, email, role, dept, location
Approval status badge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45920"/>
            <a:ext cx="3566160" cy="228600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190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Profile Photo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29968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Click avatar → Upload photo
JPG/PNG/WEBP supported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645920"/>
            <a:ext cx="4114800" cy="228600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Change Password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2996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Current → New → Confirm
Server-side validation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114800"/>
            <a:ext cx="3566160" cy="228600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87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My Reminders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98848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Table: event, date, reminder time
Cancel button per row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4114800"/>
            <a:ext cx="3566160" cy="228600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8795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My Documents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498848"/>
            <a:ext cx="2971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All uploaded docs across
office, dept, public repos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4114800"/>
            <a:ext cx="4114800" cy="228600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4206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8795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Doc Status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4498848"/>
            <a:ext cx="3520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Approved / Pending / Uploaded
Colour-coded status pills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Document Repositories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Secure document management across three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📁  Department Repo  ( /dept_repo )  —  Faculty upload docs for core team review. Dept-specific access.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🏛️  University Repo  ( /university_repo )  —  Docs shared by core/leader to All Departments.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⚙️  Core Repo  ( /core_repo )  —  Leaders/core upload and target docs to specific departments.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👁️  Document Viewer  ( /view_doc/&lt;id&gt; )  —  Embedded PDF viewer for approved documents.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📏  File Validation  —  Allowed types: PDF, DOCX, images, Excel | Max 50MB per file.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📅  Expiry Dates  —  Documents hidden after end_date passes — automatic cleanup.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🔐  Security Level  —  view_only vs download permissions configurable per document.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15-Minute Course &amp; Guided Tour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Built into the Home dashboard for all users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5A572"/>
                </a:solidFill>
                <a:latin typeface="Calibri"/>
              </a:rPr>
              <a:t>Mini Course Slides: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Slide 1 — Welcome to OOA Platform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Slide 2 — About JAIN University (founded 1990)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Slide 3 — NEP 2020 Implementation at JAIN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Slide 4 — Platform Features Walkthrough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Slide 5 — How to Set Reminders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Slide 6 — Quiz (3 questions with instant feedback)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C5A572"/>
                </a:solidFill>
                <a:latin typeface="Calibri"/>
              </a:rPr>
              <a:t>Guided Product Tour (Driver.js):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1031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Step 1 — Today's Events Ticker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Step 2 — UGC Notices Panel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Step 3 — OOA Announcements Panel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Step 4 — Academic Calendar Section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Step 5 — Events Grid with Reminders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Step 6 — Campus Gallery</a:t>
            </a:r>
          </a:p>
          <a:p>
            <a:pPr algn="l"/>
            <a:r>
              <a:rPr sz="1300">
                <a:solidFill>
                  <a:srgbClr val="F1F5F9"/>
                </a:solidFill>
                <a:latin typeface="Calibri"/>
              </a:rPr>
              <a:t>  ▸  Step 7 — User Profile &amp; Dashboard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864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Click 'Tour' in navbar to launch  •  Press Escape or Done to exit at any time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Admin Dashboard  ( /admin_dashboard 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Full control over users, events, and content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45920"/>
            <a:ext cx="356616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190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User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2996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Approve, role-change, impersonate, reset passwords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645920"/>
            <a:ext cx="356616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171907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Events Control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02996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Add/edit/delete academic calendar events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0" y="1645920"/>
            <a:ext cx="411480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17373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171907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UGC Notices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202996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Upload UGC/University notices with files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291840"/>
            <a:ext cx="356616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3649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Newsletter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7588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Create and send HTML newsletters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3291840"/>
            <a:ext cx="356616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🖼️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336499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Campus Gallery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367588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Add/remove campus photo moments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0" y="3291840"/>
            <a:ext cx="411480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0" y="3383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📊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336499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Activity Logs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75320" y="367588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Per-user activity tracking and reports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4937760"/>
            <a:ext cx="356616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🏛️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0109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Campus Setup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532180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Add/edit campus locations &amp; metadata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4937760"/>
            <a:ext cx="356616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26280" y="5010912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Monthly Engage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26280" y="5321808"/>
            <a:ext cx="2971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Upload monthly engagement records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72400" y="4937760"/>
            <a:ext cx="4114800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863840" y="5029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5A572"/>
                </a:solidFill>
                <a:latin typeface="Calibri"/>
              </a:rPr>
              <a:t>⚙️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75320" y="5010912"/>
            <a:ext cx="3520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ERP Portal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75320" y="5321808"/>
            <a:ext cx="3520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Semester Readiness &amp; Closure modules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463040"/>
          </a:xfrm>
          <a:prstGeom prst="rect">
            <a:avLst/>
          </a:prstGeom>
          <a:solidFill>
            <a:srgbClr val="0A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73152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828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Complete User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05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5A572"/>
                </a:solidFill>
                <a:latin typeface="Calibri"/>
              </a:rPr>
              <a:t>End-to-end journey on the OOA platform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45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6459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Visit Landing Page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187451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Video hero + Login card at / — first impression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212140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228600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2860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28600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Login / Register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51460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Credentials or Google SSO → Admin approves new users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76148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9260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29260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Home Dashboard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15468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Ticker, Notices, Calendar, Gallery all load from /api/home_data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0156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65760" y="3566159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56615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356615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Explore Calendar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379475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2800+ events, filter by dept/campus, view in Month/Timeline/Today view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404164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65760" y="420624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42062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2062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Set Reminders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" y="443484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Click event → Modal → Pick time → Confirmation email sent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681727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4846320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8463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484632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Read Notices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20" y="5074920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UGC &amp; OOA panels → Click → Modal with description + PDF link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2180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365760" y="5486399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65760" y="548639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" y="548639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Take Course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0120" y="571499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15-min slides + quiz about JAIN University and platform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961888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6126479"/>
            <a:ext cx="457200" cy="45720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61264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4043A"/>
                </a:solidFill>
                <a:latin typeface="Calibri"/>
              </a:rP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0120" y="6126479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C5A572"/>
                </a:solidFill>
                <a:latin typeface="Calibri"/>
              </a:rPr>
              <a:t>Manage Profile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0120" y="6355079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1F5F9"/>
                </a:solidFill>
                <a:latin typeface="Calibri"/>
              </a:rPr>
              <a:t>Upload photo, change password, view all reminders &amp; documents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6601967"/>
            <a:ext cx="11430000" cy="18288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40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Calibri"/>
              </a:rPr>
              <a:t>Thank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5A572"/>
                </a:solidFill>
                <a:latin typeface="Calibri"/>
              </a:rPr>
              <a:t>OOA Jain University — Office of Academics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0" y="3657600"/>
            <a:ext cx="6702552" cy="45720"/>
          </a:xfrm>
          <a:prstGeom prst="rect">
            <a:avLst/>
          </a:prstGeom>
          <a:solidFill>
            <a:srgbClr val="C5A5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947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Calibri"/>
              </a:rPr>
              <a:t>🌐  github.com/ooa-jain/ooa-microsite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5196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1F5F9"/>
                </a:solidFill>
                <a:latin typeface="Calibri"/>
              </a:rPr>
              <a:t>✉️  ooa.connect@jainuniversity.ac.in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64748B"/>
                </a:solidFill>
                <a:latin typeface="Calibri"/>
              </a:rPr>
              <a:t>© 2026 JAIN (Deemed-to-be University). All rights reserved.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